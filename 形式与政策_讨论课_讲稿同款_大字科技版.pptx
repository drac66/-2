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tableStyles" Target="tableStyles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sz="3200" b="1">
                <a:solidFill>
                  <a:srgbClr val="15406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en-US" sz="3200" b="1">
                <a:solidFill>
                  <a:srgbClr val="15406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sz="3200" b="1">
                <a:solidFill>
                  <a:srgbClr val="15406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页</a:t>
            </a:r>
            <a:r>
              <a:rPr lang="en-US" sz="3200" b="1">
                <a:solidFill>
                  <a:srgbClr val="15406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｜夯实基础，全面发力；乘数而上，智启未来</a:t>
            </a:r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我们是第2组。今天汇报两个主题：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1）夯实基础，全面发力——乘势而上，接续推进中国式现代化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2）乘数而上，智启未来——深入推进数字中国建设</a:t>
            </a: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zh-CN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我们将从</a:t>
            </a:r>
            <a:r>
              <a:rPr lang="en-US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“现代化的方向与基础逻辑”</a:t>
            </a:r>
            <a:r>
              <a:rPr lang="zh-CN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“数字中国的乘数效应与实践路径”</a:t>
            </a:r>
            <a:r>
              <a:rPr lang="zh-CN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“挑战与建议”</a:t>
            </a:r>
            <a:r>
              <a:rPr lang="zh-CN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三个方面进行汇报</a:t>
            </a:r>
            <a:r>
              <a:rPr lang="en-US" sz="2400">
                <a:solidFill>
                  <a:srgbClr val="1F1F1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F4F8FF"/>
        </a:solidFill>
        <a:effectLst/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7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8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9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0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1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2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3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4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5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6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7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8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19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0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1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2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3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4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5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6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第2页｜中国式现代化的核心内涵</a:t>
            </a:r>
            <a:endParaRPr lang="en-US" sz="3200" dirty="0"/>
          </a:p>
        </p:txBody>
      </p:sp>
      <p:sp>
        <p:nvSpPr>
          <p:cNvPr id="127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8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29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中国式现代化具有五个鲜明特征：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人口规模巨大的现代化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全体人民共同富裕的现代化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物质文明和精神文明相协调的现代化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人与自然和谐共生的现代化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走和平发展道路的现代化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这意味着我们追求的不只是“快”，更是“好”、是“可持续”、是“让更多人受益”。</a:t>
            </a:r>
            <a:endParaRPr lang="en-US" sz="2400" dirty="0"/>
          </a:p>
        </p:txBody>
      </p:sp>
      <p:sp>
        <p:nvSpPr>
          <p:cNvPr id="130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F4F8FF"/>
        </a:solidFill>
        <a:effectLst/>
      </p:bgPr>
    </p:bg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3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4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5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6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7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8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39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0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1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2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3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4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5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6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7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8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49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50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51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52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第3页｜夯实基础：基础到底是什么？</a:t>
            </a:r>
            <a:endParaRPr lang="en-US" sz="3200" dirty="0"/>
          </a:p>
        </p:txBody>
      </p:sp>
      <p:sp>
        <p:nvSpPr>
          <p:cNvPr id="153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54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55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我们组认为，推进现代化至少要夯实四类基础：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制度基础：治理体系和治理能力现代化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经济基础：高质量发展与现代化产业体系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民生基础：教育、医疗、就业、社保等公共服务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安全基础：粮食、能源、产业链、数据安全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这四块基础像“地基”，决定现代化能不能走得稳、走得远。</a:t>
            </a:r>
            <a:endParaRPr lang="en-US" sz="2400" dirty="0"/>
          </a:p>
        </p:txBody>
      </p:sp>
      <p:sp>
        <p:nvSpPr>
          <p:cNvPr id="156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F4F8FF"/>
        </a:solidFill>
        <a:effectLst/>
      </p:bgPr>
    </p:bg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59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0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1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2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3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4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5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6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7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8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69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0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1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2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3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4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5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6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7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78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第4页｜全面发力：从“有没有”到“好不好”</a:t>
            </a:r>
            <a:endParaRPr lang="en-US" sz="3200" dirty="0"/>
          </a:p>
        </p:txBody>
      </p:sp>
      <p:sp>
        <p:nvSpPr>
          <p:cNvPr id="179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0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1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在夯实基础的同时，还要全面发力。核心着力点有四个：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创新驱动：科技自立自强，发展新质生产力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协调发展：区域、城乡、产业协同推进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绿色转型：低碳发展与生态价值转化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开放合作：在更高水平开放中提升竞争力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关键是把“潜力”转化为“现实生产力”和“长期竞争力”。</a:t>
            </a:r>
            <a:endParaRPr lang="en-US" sz="2400" dirty="0"/>
          </a:p>
        </p:txBody>
      </p:sp>
      <p:sp>
        <p:nvSpPr>
          <p:cNvPr id="182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F4F8FF"/>
        </a:solidFill>
        <a:effectLst/>
      </p:bgPr>
    </p:bg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5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6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7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8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89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0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1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2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3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4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5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6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7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8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99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0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1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2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3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4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第5页｜数字中国为什么是“乘数效应”？</a:t>
            </a:r>
            <a:endParaRPr lang="en-US" sz="3200" dirty="0"/>
          </a:p>
        </p:txBody>
      </p:sp>
      <p:sp>
        <p:nvSpPr>
          <p:cNvPr id="205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6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07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数字化不是简单“+1”，而是“×N”。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因为它可以同时提升效率、降低成本、扩大服务覆盖，并重构生产、流通、治理和生活方式。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我们用一个公式概括：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 = 新基础设施 × 数据要素 × 场景应用 × 制度创新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多个环节同步发力，最终形成系统性增益。</a:t>
            </a:r>
            <a:endParaRPr lang="en-US" sz="2400" dirty="0"/>
          </a:p>
        </p:txBody>
      </p:sp>
      <p:sp>
        <p:nvSpPr>
          <p:cNvPr id="208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7">
    <p:bg>
      <p:bgPr>
        <a:solidFill>
          <a:srgbClr val="F4F8FF"/>
        </a:solidFill>
        <a:effectLst/>
      </p:bgPr>
    </p:bg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1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2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3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4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5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6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7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8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19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0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1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2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3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4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5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6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7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8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29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30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第6页｜推进框架：一底座、两引擎、多场景</a:t>
            </a:r>
            <a:endParaRPr lang="en-US" sz="3200" dirty="0"/>
          </a:p>
        </p:txBody>
      </p:sp>
      <p:sp>
        <p:nvSpPr>
          <p:cNvPr id="231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32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33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数字中国建设可以概括为：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一底座：数字基础设施（算力、网络、平台）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两引擎：数据要素市场化 + 数字技术创新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多场景：数字政府、数字经济、数字社会、数字生态文明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推进逻辑是“先打底、再提能、后扩面”，最终实现规模化落地。</a:t>
            </a:r>
            <a:endParaRPr lang="en-US" sz="2400" dirty="0"/>
          </a:p>
        </p:txBody>
      </p:sp>
      <p:sp>
        <p:nvSpPr>
          <p:cNvPr id="234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F4F8FF"/>
        </a:solidFill>
        <a:effectLst/>
      </p:bgPr>
    </p:bg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37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38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39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0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1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2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3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4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5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6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7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8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49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0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1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2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3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4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5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6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第7页｜场景一：数字政府（治理更高效）</a:t>
            </a:r>
            <a:endParaRPr lang="en-US" sz="3200" dirty="0"/>
          </a:p>
        </p:txBody>
      </p:sp>
      <p:sp>
        <p:nvSpPr>
          <p:cNvPr id="257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8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59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数字政府最直观的变化是办事体验提升。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以前群众常常“多头跑、反复交材料”，现在越来越多事项实现“一网通办”。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这背后是流程再造与数据共享，不只是线下流程搬到线上。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结果是：决策更精准、响应更及时、服务更可及，群众获得感更强。</a:t>
            </a:r>
            <a:endParaRPr lang="en-US" sz="2400" dirty="0"/>
          </a:p>
        </p:txBody>
      </p:sp>
      <p:sp>
        <p:nvSpPr>
          <p:cNvPr id="260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9">
    <p:bg>
      <p:bgPr>
        <a:solidFill>
          <a:srgbClr val="F4F8FF"/>
        </a:solidFill>
        <a:effectLst/>
      </p:bgPr>
    </p:bg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63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64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65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66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67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68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69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0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1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2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3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4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5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6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7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8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79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80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81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82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第8页｜场景二：数字经济（产业更有竞争力）</a:t>
            </a:r>
            <a:endParaRPr lang="en-US" sz="3200" dirty="0"/>
          </a:p>
        </p:txBody>
      </p:sp>
      <p:sp>
        <p:nvSpPr>
          <p:cNvPr id="283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84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85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数字化正推动产业从“制造”走向“智造”。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通过工业互联网，生产流程更可视化、柔性化、智能化；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平台经济与实体经济融合，催生新业态与新模式；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中小企业“上云用数赋智”，抗风险能力和效率都在提升。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数字经济不是替代实体，而是让实体更强。</a:t>
            </a:r>
            <a:endParaRPr lang="en-US" sz="2400" dirty="0"/>
          </a:p>
        </p:txBody>
      </p:sp>
      <p:sp>
        <p:nvSpPr>
          <p:cNvPr id="286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 name="Slide 10">
    <p:bg>
      <p:bgPr>
        <a:solidFill>
          <a:srgbClr val="F4F8FF"/>
        </a:solidFill>
        <a:effectLst/>
      </p:bgPr>
    </p:bg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89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0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1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2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3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4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5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6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7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8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9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0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1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2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3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4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5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6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7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8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第9页｜场景三：数字社会（生活更便利）</a:t>
            </a:r>
            <a:endParaRPr lang="en-US" sz="3200" dirty="0"/>
          </a:p>
        </p:txBody>
      </p:sp>
      <p:sp>
        <p:nvSpPr>
          <p:cNvPr id="309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10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11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在线教育、互联网医疗、智慧出行等服务持续优化，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数字化正在改善每个人的日常生活体验。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但我们也要重视数字鸿沟问题，让老年人、偏远地区群体“会用、敢用、用得好”。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所以数字社会的目标，不只是“能用”，而是“好用、普惠、安全”。</a:t>
            </a:r>
            <a:endParaRPr lang="en-US" sz="2400" dirty="0"/>
          </a:p>
        </p:txBody>
      </p:sp>
      <p:sp>
        <p:nvSpPr>
          <p:cNvPr id="312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 name="Slide 11">
    <p:bg>
      <p:bgPr>
        <a:solidFill>
          <a:srgbClr val="F4F8FF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29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0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1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2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3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4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5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6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7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8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39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0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1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2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3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4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5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6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7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48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第10页｜挑战：发展与安全并重</a:t>
            </a:r>
            <a:endParaRPr lang="en-US" sz="3200" dirty="0"/>
          </a:p>
        </p:txBody>
      </p:sp>
      <p:sp>
        <p:nvSpPr>
          <p:cNvPr id="49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0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1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推进数字中国还面临三类挑战：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1）核心技术能力仍需持续突破；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2）数据流通与隐私保护要精细平衡；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3）区域、人群数字能力差异仍然存在。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因此必须在发展中同步治理，在提速中守住安全与公平底线。</a:t>
            </a:r>
            <a:endParaRPr lang="en-US" sz="2400" dirty="0"/>
          </a:p>
        </p:txBody>
      </p:sp>
      <p:sp>
        <p:nvSpPr>
          <p:cNvPr id="52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F4F8FF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5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6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7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8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59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0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1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2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3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4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5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6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7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8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69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0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1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2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3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4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第11页｜建议：政策、技术、人才、治理协同发力</a:t>
            </a:r>
            <a:endParaRPr lang="en-US" sz="3200" dirty="0"/>
          </a:p>
        </p:txBody>
      </p:sp>
      <p:sp>
        <p:nvSpPr>
          <p:cNvPr id="75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6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77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我们组提出四点建议：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政策端：完善数据产权、流通、收益分配和监管机制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技术端：加强关键核心技术攻关，提升自主可控能力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人才端：强化数字素养教育，培养复合型人才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治理端：建立包容审慎、风险可控的数字治理体系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四个方面要形成闭环，避免“单点突破、整体不强”。</a:t>
            </a:r>
            <a:endParaRPr lang="en-US" sz="2400" dirty="0"/>
          </a:p>
        </p:txBody>
      </p:sp>
      <p:sp>
        <p:nvSpPr>
          <p:cNvPr id="78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3">
    <p:bg>
      <p:bgPr>
        <a:solidFill>
          <a:srgbClr val="F4F8FF"/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F1FF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1" name="Shap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DDEBFF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2" name="Shape 2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CFE4F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3" name="Shape 3"/>
          <p:cNvSpPr/>
          <p:nvPr/>
        </p:nvSpPr>
        <p:spPr>
          <a:xfrm>
            <a:off x="10332720" y="182880"/>
            <a:ext cx="1828800" cy="1828800"/>
          </a:xfrm>
          <a:prstGeom prst="ellipse">
            <a:avLst/>
          </a:prstGeom>
          <a:solidFill>
            <a:srgbClr val="B7D6FF">
              <a:alpha val="4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4" name="Shape 4"/>
          <p:cNvSpPr/>
          <p:nvPr/>
        </p:nvSpPr>
        <p:spPr>
          <a:xfrm>
            <a:off x="3657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5" name="Shape 5"/>
          <p:cNvSpPr/>
          <p:nvPr/>
        </p:nvSpPr>
        <p:spPr>
          <a:xfrm>
            <a:off x="14630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6" name="Shape 6"/>
          <p:cNvSpPr/>
          <p:nvPr/>
        </p:nvSpPr>
        <p:spPr>
          <a:xfrm>
            <a:off x="25603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7" name="Shape 7"/>
          <p:cNvSpPr/>
          <p:nvPr/>
        </p:nvSpPr>
        <p:spPr>
          <a:xfrm>
            <a:off x="36576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8" name="Shape 8"/>
          <p:cNvSpPr/>
          <p:nvPr/>
        </p:nvSpPr>
        <p:spPr>
          <a:xfrm>
            <a:off x="47548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89" name="Shape 9"/>
          <p:cNvSpPr/>
          <p:nvPr/>
        </p:nvSpPr>
        <p:spPr>
          <a:xfrm>
            <a:off x="58521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0" name="Shape 10"/>
          <p:cNvSpPr/>
          <p:nvPr/>
        </p:nvSpPr>
        <p:spPr>
          <a:xfrm>
            <a:off x="694944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1" name="Shape 11"/>
          <p:cNvSpPr/>
          <p:nvPr/>
        </p:nvSpPr>
        <p:spPr>
          <a:xfrm>
            <a:off x="804672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2" name="Shape 12"/>
          <p:cNvSpPr/>
          <p:nvPr/>
        </p:nvSpPr>
        <p:spPr>
          <a:xfrm>
            <a:off x="914400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3" name="Shape 13"/>
          <p:cNvSpPr/>
          <p:nvPr/>
        </p:nvSpPr>
        <p:spPr>
          <a:xfrm>
            <a:off x="1024128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4" name="Shape 14"/>
          <p:cNvSpPr/>
          <p:nvPr/>
        </p:nvSpPr>
        <p:spPr>
          <a:xfrm>
            <a:off x="11338560" y="5669280"/>
            <a:ext cx="0" cy="109728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5" name="Shape 15"/>
          <p:cNvSpPr/>
          <p:nvPr/>
        </p:nvSpPr>
        <p:spPr>
          <a:xfrm>
            <a:off x="320040" y="5669280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6" name="Shape 16"/>
          <p:cNvSpPr/>
          <p:nvPr/>
        </p:nvSpPr>
        <p:spPr>
          <a:xfrm>
            <a:off x="320040" y="5879592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7" name="Shape 17"/>
          <p:cNvSpPr/>
          <p:nvPr/>
        </p:nvSpPr>
        <p:spPr>
          <a:xfrm>
            <a:off x="320040" y="6089904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8" name="Shape 18"/>
          <p:cNvSpPr/>
          <p:nvPr/>
        </p:nvSpPr>
        <p:spPr>
          <a:xfrm>
            <a:off x="320040" y="6300216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99" name="Shape 19"/>
          <p:cNvSpPr/>
          <p:nvPr/>
        </p:nvSpPr>
        <p:spPr>
          <a:xfrm>
            <a:off x="320040" y="6510528"/>
            <a:ext cx="11612880" cy="0"/>
          </a:xfrm>
          <a:prstGeom prst="line">
            <a:avLst/>
          </a:prstGeom>
          <a:noFill/>
          <a:ln w="12700">
            <a:solidFill>
              <a:srgbClr val="BFD6F6">
                <a:alpha val="55000"/>
              </a:srgbClr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0" name="Text 2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第12页｜结语</a:t>
            </a:r>
            <a:endParaRPr lang="en-US" sz="3200" dirty="0"/>
          </a:p>
        </p:txBody>
      </p:sp>
      <p:sp>
        <p:nvSpPr>
          <p:cNvPr id="101" name="Shape 21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2" name="Shape 22"/>
          <p:cNvSpPr/>
          <p:nvPr/>
        </p:nvSpPr>
        <p:spPr>
          <a:xfrm>
            <a:off x="59436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6D9F3"/>
            </a:solidFill>
            <a:prstDash val="solid"/>
          </a:ln>
        </p:spPr>
        <p:txBody>
          <a:bodyPr/>
          <a:lstStyle/>
          <a:p>
            <a:pPr/>
            <a:endParaRPr lang="zh-CN" altLang="en-US"/>
          </a:p>
        </p:txBody>
      </p:sp>
      <p:sp>
        <p:nvSpPr>
          <p:cNvPr id="103" name="Text 23"/>
          <p:cNvSpPr/>
          <p:nvPr/>
        </p:nvSpPr>
        <p:spPr>
          <a:xfrm>
            <a:off x="822960" y="1572768"/>
            <a:ext cx="1046988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总结三句话：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1）中国式现代化是方向，数字中国是路径；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2）夯实基础是前提，全面发力是关键；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3）把发展质量、治理效能与民生温度统一起来，现代化才能行稳致远。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数字中国不是未来时，而是进行时；不是选择题，而是必答题。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谢谢大家，欢迎批评指正。</a:t>
            </a:r>
            <a:endParaRPr lang="en-US" sz="2400" dirty="0"/>
          </a:p>
        </p:txBody>
      </p:sp>
      <p:sp>
        <p:nvSpPr>
          <p:cNvPr id="104" name="Text 24"/>
          <p:cNvSpPr/>
          <p:nvPr/>
        </p:nvSpPr>
        <p:spPr>
          <a:xfrm>
            <a:off x="621792" y="64282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D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动画统一：本页所有文本框按顺序设置“飞入（自底部）”，持续0.5秒，延迟每项+0.1秒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2026-04-30T12:19:24Z</dcterms:created>
  <dcterms:modified xsi:type="dcterms:W3CDTF">2026-04-30T12:19:24Z</dcterms:modified>
</cp:coreProperties>
</file>